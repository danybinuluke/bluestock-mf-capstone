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227F-6751-95B3-4DCF-F991DC036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D8906-A0FF-7136-4F38-70CC69D1C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9561F-8616-4881-3362-11F17992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7CBB-97DD-008E-45EF-BF89D52F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4302-D0F2-7EBA-7CFF-BC8420DC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45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73DE-C6D0-6195-52C3-0A41CD9A1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5FDFE-61E6-0966-1745-CD0150B5A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DC1EB-D815-795E-4A09-5FA32F85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C2153-88EB-2E2A-B68B-4CF6443ED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AED6A-5209-1017-02C6-3B7799E9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23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FB3F-B2E2-E6ED-0F0F-2495BE717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5422A-E68D-E141-E3F0-8A741C14F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21455-5466-726A-B45A-7C8F3769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FC7BB-4419-2183-9FAE-DF6391B9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4B215-8546-1ED8-3961-357E7E3F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2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15DF-F579-F956-3C48-1D2E260B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9C50F-C59F-C033-B51C-44CC42F3C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7349D-1E82-CA6B-0676-0A6003CFE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A62AD-FD05-67E8-37D4-E76289AF0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195B3-019B-7269-7194-86ACF4A8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84E40-38F7-3D0F-0C7E-3B656618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047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EAE-236C-0622-F040-5042F835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794DB-15EE-457E-A1C2-B4A10EEA0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D0AB3-9871-F03A-146A-B82EA4412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928A6-9911-177B-55B2-2D56104A7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D3642-2890-6264-026E-3D7F507B3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EF89A3-071C-B78C-A1C5-BEB06618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D4D92-0700-A949-6364-8F95D976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A211C-8F3D-9005-8F7F-7096D450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2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4FF0-7891-469D-5461-A8A279731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7A3BE-CE8D-02F6-DCBA-C0A47434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997C0-65F0-B1E5-8CFA-5B5C1DD71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37295-3B42-55EA-8271-A30C5212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4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C33DD-83D5-9B65-4259-F027AE293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1018B-1A71-B262-B492-3B7FBAA7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72F6B-C02E-A96F-5373-6AB0595B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47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1390-EF97-476D-239B-3E77030C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7215-02D3-413A-2A06-2EE188CF2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705C2-2F42-2898-AC42-62DCF82D2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6508A-2C92-63A1-625E-7DCD2E1B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914C1-42AE-E961-5022-08205215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79031-8051-5011-D429-9E74A692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5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CACF-A475-B4D7-A8BF-34E1024B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57287-07DD-BC9B-1918-41BA59525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10BA8-9E27-B931-77DF-985B70CC8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8CD40-FAC0-B0C5-D44C-214DD9B6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54984-E8A5-0AC1-0EA6-22AC7858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B3673-6DA0-69FA-5618-0A8C594F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4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CAC7-B99A-78F5-F5A0-0F98F7F9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BAFE9-72A3-677B-EA21-127987A49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DE8B7-766F-B06B-C2C6-CB26E452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4ED58-30D8-D7C1-7BB0-3396B28B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8721A-73CD-D359-4057-4745D238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120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AB0BD-195B-19BD-B1B3-7873DDB29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8D274-853D-A28F-7BF3-85C4AE73B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241AB-6945-66CE-294D-28861881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C6BD6-893D-8055-2B01-668E90BF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6E23A-536B-339A-8F5E-96EF1210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41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2C38D4-C940-8A31-1FE7-588C890A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65E17-24B0-C1A7-D956-CC518BC21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AA222-14AE-AE41-E534-471F25ACA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99D23-8DA5-4747-9453-89157C09A539}" type="datetimeFigureOut">
              <a:rPr lang="en-IN" smtClean="0"/>
              <a:t>11/06/2026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F38B-4D5F-C992-B6B2-FDF9EFFFF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2D057-B063-6936-9A4E-CBE094CE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9661A-A9B6-4806-9889-BA01480E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3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5128-AEF0-824B-CEA8-5BAB25E4F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495" y="56618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Bluestock</a:t>
            </a:r>
            <a:r>
              <a:rPr lang="en-US" b="1" dirty="0"/>
              <a:t> Mutual Fund Analytics Platform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9072E-7D36-FEF4-E6BD-758E0B5A58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Capstone Project Presentation</a:t>
            </a:r>
          </a:p>
          <a:p>
            <a:r>
              <a:rPr lang="en-US" dirty="0"/>
              <a:t> Empowering Data Driven Investment Decisions</a:t>
            </a:r>
          </a:p>
          <a:p>
            <a:r>
              <a:rPr lang="en-US" dirty="0"/>
              <a:t> </a:t>
            </a:r>
            <a:r>
              <a:rPr lang="en-US" dirty="0" err="1"/>
              <a:t>Bluestock</a:t>
            </a:r>
            <a:r>
              <a:rPr lang="en-US" dirty="0"/>
              <a:t> Fintech</a:t>
            </a:r>
          </a:p>
          <a:p>
            <a:endParaRPr lang="en-IN" dirty="0"/>
          </a:p>
        </p:txBody>
      </p:sp>
      <p:pic>
        <p:nvPicPr>
          <p:cNvPr id="1026" name="Picture 2" descr="Bluestock Fintech MJ28">
            <a:extLst>
              <a:ext uri="{FF2B5EF4-FFF2-40B4-BE49-F238E27FC236}">
                <a16:creationId xmlns:a16="http://schemas.microsoft.com/office/drawing/2014/main" id="{AD1BC900-FBC0-2D08-9281-71B217ACA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5" y="104268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92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6812-56CE-4FF9-AC2F-B7BE8BE3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The Challenge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9100-28E9-A396-2F06-463A2B0D6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6966"/>
            <a:ext cx="10515600" cy="4351338"/>
          </a:xfrm>
        </p:spPr>
        <p:txBody>
          <a:bodyPr/>
          <a:lstStyle/>
          <a:p>
            <a:r>
              <a:rPr lang="en-US" dirty="0"/>
              <a:t>Fragmented mutual fund data across disparate sources.</a:t>
            </a:r>
          </a:p>
          <a:p>
            <a:r>
              <a:rPr lang="en-US" dirty="0"/>
              <a:t>Difficulty in calculating complex risk adjusted metrics at scale.</a:t>
            </a:r>
          </a:p>
          <a:p>
            <a:r>
              <a:rPr lang="en-US" dirty="0"/>
              <a:t>Lack of centralized, interactive reporting for stakeholders.</a:t>
            </a:r>
          </a:p>
          <a:p>
            <a:r>
              <a:rPr lang="en-US" dirty="0"/>
              <a:t>Need for deeper insights into investor behavior and risk exposure.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238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D668A-2F8B-2A7B-3BD5-B9C4E018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Project 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61FA-06F8-54B6-DB17-D29D90127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IN" b="1" dirty="0"/>
              <a:t>Data Engineering: </a:t>
            </a:r>
            <a:r>
              <a:rPr lang="en-IN" dirty="0"/>
              <a:t>Build a robust, automated ETL pipeline.</a:t>
            </a:r>
          </a:p>
          <a:p>
            <a:r>
              <a:rPr lang="en-IN" b="1" dirty="0"/>
              <a:t>Data Warehousing:</a:t>
            </a:r>
            <a:r>
              <a:rPr lang="en-IN" dirty="0"/>
              <a:t> Design an optimized SQLite Star Schema.</a:t>
            </a:r>
          </a:p>
          <a:p>
            <a:r>
              <a:rPr lang="en-IN" b="1" dirty="0"/>
              <a:t>Analytics:</a:t>
            </a:r>
            <a:r>
              <a:rPr lang="en-IN" dirty="0"/>
              <a:t> Calculate advanced KPIs (Sharpe, Alpha, </a:t>
            </a:r>
            <a:r>
              <a:rPr lang="en-IN" dirty="0" err="1"/>
              <a:t>VaR</a:t>
            </a:r>
            <a:r>
              <a:rPr lang="en-IN" dirty="0"/>
              <a:t>).</a:t>
            </a:r>
          </a:p>
          <a:p>
            <a:r>
              <a:rPr lang="en-IN" b="1" dirty="0"/>
              <a:t>Visualization:</a:t>
            </a:r>
            <a:r>
              <a:rPr lang="en-IN" dirty="0"/>
              <a:t> Deliver an interactive Power BI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06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F312-9443-0B98-1115-70C6F52D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Comprehensive Data Integration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AAA9C-CE6D-003D-FE9B-F43904DA5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IN" b="1" dirty="0"/>
              <a:t>Market Data: </a:t>
            </a:r>
            <a:r>
              <a:rPr lang="en-IN" dirty="0"/>
              <a:t>NAV history, AUM, Benchmark indices.</a:t>
            </a:r>
          </a:p>
          <a:p>
            <a:r>
              <a:rPr lang="en-IN" b="1" dirty="0"/>
              <a:t>Fund Metadata: </a:t>
            </a:r>
            <a:r>
              <a:rPr lang="en-IN" dirty="0"/>
              <a:t>Fund master, Scheme categorizations.</a:t>
            </a:r>
          </a:p>
          <a:p>
            <a:r>
              <a:rPr lang="en-IN" b="1" dirty="0"/>
              <a:t>Inflows: </a:t>
            </a:r>
            <a:r>
              <a:rPr lang="en-IN" dirty="0"/>
              <a:t>Monthly SIP data, Category wise inflows.</a:t>
            </a:r>
          </a:p>
          <a:p>
            <a:r>
              <a:rPr lang="en-IN" b="1" dirty="0"/>
              <a:t>Behavioural Data: </a:t>
            </a:r>
            <a:r>
              <a:rPr lang="en-IN" dirty="0"/>
              <a:t>Investor transactions, Folio counts.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38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812B-601A-BB10-2085-799990F2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System Architecture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6E5AD-FE5F-280E-149A-F4922728C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 Extract: </a:t>
            </a:r>
            <a:r>
              <a:rPr lang="en-IN" dirty="0"/>
              <a:t>Pandas used for reading CSV/Excel.</a:t>
            </a:r>
          </a:p>
          <a:p>
            <a:r>
              <a:rPr lang="en-IN" dirty="0"/>
              <a:t> </a:t>
            </a:r>
            <a:r>
              <a:rPr lang="en-IN" b="1" dirty="0"/>
              <a:t>Transform: </a:t>
            </a:r>
            <a:r>
              <a:rPr lang="en-IN" dirty="0"/>
              <a:t>Cleaning, forward filling weekend NAVs, outlier detection.</a:t>
            </a:r>
          </a:p>
          <a:p>
            <a:r>
              <a:rPr lang="en-IN" dirty="0"/>
              <a:t> </a:t>
            </a:r>
            <a:r>
              <a:rPr lang="en-IN" b="1" dirty="0"/>
              <a:t>Load: </a:t>
            </a:r>
            <a:r>
              <a:rPr lang="en-IN" dirty="0" err="1"/>
              <a:t>SQLAlchemy</a:t>
            </a:r>
            <a:r>
              <a:rPr lang="en-IN" dirty="0"/>
              <a:t> into SQLite (`</a:t>
            </a:r>
            <a:r>
              <a:rPr lang="en-IN" dirty="0" err="1"/>
              <a:t>dim_fund</a:t>
            </a:r>
            <a:r>
              <a:rPr lang="en-IN" dirty="0"/>
              <a:t>`, `</a:t>
            </a:r>
            <a:r>
              <a:rPr lang="en-IN" dirty="0" err="1"/>
              <a:t>fact_nav</a:t>
            </a:r>
            <a:r>
              <a:rPr lang="en-IN" dirty="0"/>
              <a:t>`, etc.).</a:t>
            </a:r>
          </a:p>
          <a:p>
            <a:r>
              <a:rPr lang="en-IN" dirty="0"/>
              <a:t> </a:t>
            </a:r>
            <a:r>
              <a:rPr lang="en-IN" b="1" dirty="0"/>
              <a:t>Automated Execution: </a:t>
            </a:r>
            <a:r>
              <a:rPr lang="en-IN" dirty="0"/>
              <a:t>Single entry point via `run_pipeline.py`.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48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D635-89EC-1281-0CDF-C53ABB5B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Exploratory Data Analysis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69550-81EB-48F2-741D-E5E6858E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4099"/>
            <a:ext cx="10515600" cy="4351338"/>
          </a:xfrm>
        </p:spPr>
        <p:txBody>
          <a:bodyPr/>
          <a:lstStyle/>
          <a:p>
            <a:r>
              <a:rPr lang="en-US" dirty="0"/>
              <a:t>Exponential growth in monthly SIP contributions.</a:t>
            </a:r>
          </a:p>
          <a:p>
            <a:r>
              <a:rPr lang="en-US" dirty="0"/>
              <a:t>Equity funds dominate Total AUM.</a:t>
            </a:r>
          </a:p>
          <a:p>
            <a:r>
              <a:rPr lang="en-US" dirty="0"/>
              <a:t>Significant rise in Tier 2 city folio creation.</a:t>
            </a:r>
          </a:p>
          <a:p>
            <a:r>
              <a:rPr lang="en-US" dirty="0"/>
              <a:t>Market volatility directly impacts lump sum inflows, while SIPs remain stable.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312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2F7F-E629-DC01-5D0A-F72951F2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Measuring Returns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A2BDA-905E-BF52-9357-F56D9CAD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IN" b="1" dirty="0"/>
              <a:t> CAGR: </a:t>
            </a:r>
            <a:r>
              <a:rPr lang="en-IN" dirty="0"/>
              <a:t>Calculated for 1Y, 3Y, 5Y horizons.</a:t>
            </a:r>
          </a:p>
          <a:p>
            <a:r>
              <a:rPr lang="en-IN" dirty="0"/>
              <a:t> </a:t>
            </a:r>
            <a:r>
              <a:rPr lang="en-IN" b="1" dirty="0"/>
              <a:t>Sharpe &amp; Sortino Ratios: </a:t>
            </a:r>
            <a:r>
              <a:rPr lang="en-IN" dirty="0"/>
              <a:t>Evaluating risk adjusted performance.</a:t>
            </a:r>
          </a:p>
          <a:p>
            <a:r>
              <a:rPr lang="en-IN" dirty="0"/>
              <a:t> </a:t>
            </a:r>
            <a:r>
              <a:rPr lang="en-IN" b="1" dirty="0"/>
              <a:t>Alpha &amp; Beta: </a:t>
            </a:r>
            <a:r>
              <a:rPr lang="en-IN" dirty="0"/>
              <a:t>Measuring benchmark outperformance and market volatility.</a:t>
            </a:r>
          </a:p>
          <a:p>
            <a:r>
              <a:rPr lang="en-IN" dirty="0"/>
              <a:t> Results exported to `alpha_beta.csv` and `fund_scorecard.csv`.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55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F28F-91F4-E13E-DC2E-B829BE53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Risk &amp; </a:t>
            </a:r>
            <a:r>
              <a:rPr lang="en-IN" b="1" dirty="0" err="1"/>
              <a:t>Behavioral</a:t>
            </a:r>
            <a:r>
              <a:rPr lang="en-IN" b="1" dirty="0"/>
              <a:t> </a:t>
            </a:r>
            <a:r>
              <a:rPr lang="en-IN" b="1" dirty="0" err="1"/>
              <a:t>Modeling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EEF66-11AD-ACDF-835C-9E5EA7611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 Value at Risk (</a:t>
            </a:r>
            <a:r>
              <a:rPr lang="en-IN" b="1" dirty="0" err="1"/>
              <a:t>VaR</a:t>
            </a:r>
            <a:r>
              <a:rPr lang="en-IN" b="1" dirty="0"/>
              <a:t>) &amp; CVaR: </a:t>
            </a:r>
            <a:r>
              <a:rPr lang="en-IN" dirty="0"/>
              <a:t>Quantifying tail risk and potential downside.</a:t>
            </a:r>
          </a:p>
          <a:p>
            <a:r>
              <a:rPr lang="en-IN" dirty="0"/>
              <a:t> </a:t>
            </a:r>
            <a:r>
              <a:rPr lang="en-IN" b="1" dirty="0"/>
              <a:t>Portfolio Concentration: </a:t>
            </a:r>
            <a:r>
              <a:rPr lang="en-IN" dirty="0"/>
              <a:t>HHI analysis (`sector_hhi.csv`).</a:t>
            </a:r>
          </a:p>
          <a:p>
            <a:r>
              <a:rPr lang="en-IN" dirty="0"/>
              <a:t> </a:t>
            </a:r>
            <a:r>
              <a:rPr lang="en-IN" b="1" dirty="0"/>
              <a:t>Cohort Analysis: </a:t>
            </a:r>
            <a:r>
              <a:rPr lang="en-IN" dirty="0"/>
              <a:t>Tracking investor retention (`cohort_analysis.csv`).</a:t>
            </a:r>
          </a:p>
          <a:p>
            <a:r>
              <a:rPr lang="en-IN" dirty="0"/>
              <a:t> </a:t>
            </a:r>
            <a:r>
              <a:rPr lang="en-IN" b="1" dirty="0"/>
              <a:t>Recommendation Engine: </a:t>
            </a:r>
            <a:r>
              <a:rPr lang="en-IN" dirty="0"/>
              <a:t>Content based fund matching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391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D2AB5-16A0-9C8A-4645-CA5898AE9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Interactive 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3B301D-90A2-127E-E11B-05D0B6540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624" y="1690688"/>
            <a:ext cx="4316106" cy="2474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7E38B6-8747-0B97-1499-947CC26D8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752" y="1591757"/>
            <a:ext cx="4485048" cy="2573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9ED743-5902-9B88-F882-BB9F34248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24" y="4283128"/>
            <a:ext cx="4316106" cy="2478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C493FC-AB59-8E54-C468-CE804D8E8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752" y="4283128"/>
            <a:ext cx="4485048" cy="253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85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F0F3B-42A2-91D5-E805-6832358E6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85" y="2174417"/>
            <a:ext cx="10515600" cy="4351338"/>
          </a:xfrm>
        </p:spPr>
        <p:txBody>
          <a:bodyPr/>
          <a:lstStyle/>
          <a:p>
            <a:r>
              <a:rPr lang="en-IN" b="1" dirty="0"/>
              <a:t> Page 1: Industry Overview </a:t>
            </a:r>
            <a:r>
              <a:rPr lang="en-IN" dirty="0"/>
              <a:t>(Macro trends, AUM).</a:t>
            </a:r>
          </a:p>
          <a:p>
            <a:r>
              <a:rPr lang="en-IN" dirty="0"/>
              <a:t> </a:t>
            </a:r>
            <a:r>
              <a:rPr lang="en-IN" b="1" dirty="0"/>
              <a:t>Page 2: Fund Performance </a:t>
            </a:r>
            <a:r>
              <a:rPr lang="en-IN" dirty="0"/>
              <a:t>(Drill down into specific schemes).</a:t>
            </a:r>
          </a:p>
          <a:p>
            <a:r>
              <a:rPr lang="en-IN" dirty="0"/>
              <a:t> </a:t>
            </a:r>
            <a:r>
              <a:rPr lang="en-IN" b="1" dirty="0"/>
              <a:t>Page 3: Investor Analytics </a:t>
            </a:r>
            <a:r>
              <a:rPr lang="en-IN" dirty="0"/>
              <a:t>(Demographics and transaction </a:t>
            </a:r>
            <a:r>
              <a:rPr lang="en-IN" dirty="0" err="1"/>
              <a:t>behaviors</a:t>
            </a:r>
            <a:r>
              <a:rPr lang="en-IN" dirty="0"/>
              <a:t>).</a:t>
            </a:r>
          </a:p>
          <a:p>
            <a:r>
              <a:rPr lang="en-IN" dirty="0"/>
              <a:t> </a:t>
            </a:r>
            <a:r>
              <a:rPr lang="en-IN" b="1" dirty="0"/>
              <a:t>Page 4: SIP &amp; Market Trends </a:t>
            </a:r>
            <a:r>
              <a:rPr lang="en-IN" dirty="0"/>
              <a:t>(Inflow consistency).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201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1319-671F-3594-FEF2-E8132206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Insights &amp; Strategy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B4D6-E6F1-F57D-075C-087659546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 Finding: </a:t>
            </a:r>
            <a:r>
              <a:rPr lang="en-IN" dirty="0"/>
              <a:t>Mid cap funds show high Alpha but severe CVaR tail risk.</a:t>
            </a:r>
          </a:p>
          <a:p>
            <a:r>
              <a:rPr lang="en-IN" dirty="0"/>
              <a:t> </a:t>
            </a:r>
            <a:r>
              <a:rPr lang="en-IN" b="1" dirty="0"/>
              <a:t>Recommendation: </a:t>
            </a:r>
            <a:r>
              <a:rPr lang="en-IN" dirty="0"/>
              <a:t>Utilize hybrid funds for better downside protection.</a:t>
            </a:r>
          </a:p>
          <a:p>
            <a:r>
              <a:rPr lang="en-IN" dirty="0"/>
              <a:t> </a:t>
            </a:r>
            <a:r>
              <a:rPr lang="en-IN" b="1" dirty="0"/>
              <a:t>Finding: </a:t>
            </a:r>
            <a:r>
              <a:rPr lang="en-IN" dirty="0"/>
              <a:t>High HHI scores in thematic funds indicate concentration risk.</a:t>
            </a:r>
          </a:p>
          <a:p>
            <a:r>
              <a:rPr lang="en-IN" dirty="0"/>
              <a:t> </a:t>
            </a:r>
            <a:r>
              <a:rPr lang="en-IN" b="1" dirty="0"/>
              <a:t>Recommendation: </a:t>
            </a:r>
            <a:r>
              <a:rPr lang="en-IN" dirty="0"/>
              <a:t>Monitor portfolio diversification actively.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5F33E-B758-D3A1-1B4E-67AAB7A9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1150-3968-D096-9BF7-56AD1E1DE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9196"/>
            <a:ext cx="10515600" cy="4351338"/>
          </a:xfrm>
        </p:spPr>
        <p:txBody>
          <a:bodyPr/>
          <a:lstStyle/>
          <a:p>
            <a:r>
              <a:rPr lang="en-US" dirty="0"/>
              <a:t>Project delivered on time, meeting all requirements.</a:t>
            </a:r>
          </a:p>
          <a:p>
            <a:r>
              <a:rPr lang="en-US" dirty="0"/>
              <a:t>Thank you for your time. The platform is fully operational and sets the foundation for future expansions like real-time data integration.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180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Bluestock Mutual Fund Analytics Platform </vt:lpstr>
      <vt:lpstr>The Challenge </vt:lpstr>
      <vt:lpstr>Project Objectives </vt:lpstr>
      <vt:lpstr>Comprehensive Data Integration </vt:lpstr>
      <vt:lpstr>System Architecture </vt:lpstr>
      <vt:lpstr>Exploratory Data Analysis </vt:lpstr>
      <vt:lpstr>Measuring Returns </vt:lpstr>
      <vt:lpstr>Risk &amp; Behavioral Modeling </vt:lpstr>
      <vt:lpstr>Interactive Power BI Dashboard</vt:lpstr>
      <vt:lpstr>PowerPoint Presentation</vt:lpstr>
      <vt:lpstr>Insights &amp; Strategy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Dany Binu Luke</dc:creator>
  <cp:lastModifiedBy>Dany Binu Luke</cp:lastModifiedBy>
  <cp:revision>1</cp:revision>
  <dcterms:created xsi:type="dcterms:W3CDTF">2026-06-11T13:53:52Z</dcterms:created>
  <dcterms:modified xsi:type="dcterms:W3CDTF">2026-06-11T13:54:06Z</dcterms:modified>
</cp:coreProperties>
</file>